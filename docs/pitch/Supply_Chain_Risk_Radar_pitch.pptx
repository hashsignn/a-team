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ELEVATOR PITCH — say this, then stop.</a:t>
            </a:r>
          </a:p>
          <a:p/>
          <a:p>
            <a:r>
              <a:t>"Sika moves freight across the Rhine, Suez and half of Europe. When something</a:t>
            </a:r>
          </a:p>
          <a:p>
            <a:r>
              <a:t>breaks, the delay is not the expensive part — the two days spent working out</a:t>
            </a:r>
          </a:p>
          <a:p>
            <a:r>
              <a:t>who is affected is. Our Risk Radar cuts that to minutes, and it names the one</a:t>
            </a:r>
          </a:p>
          <a:p>
            <a:r>
              <a:t>action that still gets the load there on time."</a:t>
            </a:r>
          </a:p>
          <a:p/>
          <a:p>
            <a:r>
              <a:t>Do not read the subtitle aloud. Let the room read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[0:15–0:50]  REAL CUSTOMER EXPERIENCE — guide item 1.</a:t>
            </a:r>
          </a:p>
          <a:p/>
          <a:p>
            <a:r>
              <a:t>Tell it as one specific morning, not as a category of problem. Kaub. 45%.</a:t>
            </a:r>
          </a:p>
          <a:p>
            <a:r>
              <a:t>28 consignments. Name the numbers; they are on the screen behind you.</a:t>
            </a:r>
          </a:p>
          <a:p/>
          <a:p>
            <a:r>
              <a:t>The line that has to land: the money is lost in the gap between the event</a:t>
            </a:r>
          </a:p>
          <a:p>
            <a:r>
              <a:t>and the decision, not in the event. Pause after it.</a:t>
            </a:r>
          </a:p>
          <a:p/>
          <a:p>
            <a:r>
              <a:t>Do not explain the table yet — it is the next slide's job.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[0:50–1:10]  THE PROPOSITION — say it in one breath.</a:t>
            </a:r>
          </a:p>
          <a:p/>
          <a:p>
            <a:r>
              <a:t>"Our value proposition is speed of action: the freight reaches the customer</a:t>
            </a:r>
          </a:p>
          <a:p>
            <a:r>
              <a:t>on time even during a delay. Cost is secondary to delivery — but we never</a:t>
            </a:r>
          </a:p>
          <a:p>
            <a:r>
              <a:t>propose a route that turns a profit into a loss."</a:t>
            </a:r>
          </a:p>
          <a:p/>
          <a:p>
            <a:r>
              <a:t>This is the sentence the judges should be able to repeat back. Say it slowly.</a:t>
            </a:r>
          </a:p>
          <a:p>
            <a:r>
              <a:t>Three cards, three words each if you are behind: on time, not at a loss, by</a:t>
            </a:r>
          </a:p>
          <a:p>
            <a:r>
              <a:t>a deadline.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[1:10–1:40]  THE PRODUCT, PART 1 — demo the board.</a:t>
            </a:r>
          </a:p>
          <a:p/>
          <a:p>
            <a:r>
              <a:t>Point at the ladder first: "these are not severities, they are deadlines."</a:t>
            </a:r>
          </a:p>
          <a:p>
            <a:r>
              <a:t>Then the convene banner: half a million Swiss francs of exposure, 48</a:t>
            </a:r>
          </a:p>
          <a:p>
            <a:r>
              <a:t>shipments needing a decision, and the next standing meeting is Tuesday. The</a:t>
            </a:r>
          </a:p>
          <a:p>
            <a:r>
              <a:t>tool is telling the team to meet early — and saying why in one sentence.</a:t>
            </a:r>
          </a:p>
          <a:p/>
          <a:p>
            <a:r>
              <a:t>If you are short on time, cut everything except the ladder and the banner.</a:t>
            </a:r>
          </a:p>
          <a:p/>
          <a:p>
            <a:r>
              <a:t>Note for Q&amp;A: the data on screen is synthetic. The pipeline behind it runs</a:t>
            </a:r>
          </a:p>
          <a:p>
            <a:r>
              <a:t>on live public feeds, and the whole thing runs offline at zero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[1:40–2:10]  THE PRODUCT, PART 2 — one lane, one page.</a:t>
            </a:r>
          </a:p>
          <a:p/>
          <a:p>
            <a:r>
              <a:t>This is the slide that answers "does it actually know anything". Trucks for</a:t>
            </a:r>
          </a:p>
          <a:p>
            <a:r>
              <a:t>the road leg, barges for the river legs, wagons where a lane goes by rail.</a:t>
            </a:r>
          </a:p>
          <a:p>
            <a:r>
              <a:t>Colour is not decoration: amber means there is still an option, red means</a:t>
            </a:r>
          </a:p>
          <a:p>
            <a:r>
              <a:t>there is not.</a:t>
            </a:r>
          </a:p>
          <a:p/>
          <a:p>
            <a:r>
              <a:t>Click one: SYN-0042, Meridian Infrastructure, CHF 30,429, 42 hours to decide,</a:t>
            </a:r>
          </a:p>
          <a:p>
            <a:r>
              <a:t>hit by the Kaub restriction. Under it, whatever the person with the load</a:t>
            </a:r>
          </a:p>
          <a:p>
            <a:r>
              <a:t>actually reported.</a:t>
            </a:r>
          </a:p>
          <a:p/>
          <a:p>
            <a:r>
              <a:t>"18 of them can still be changed" is the whole product in one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[2:10–2:35]  THE PRODUCT, PART 3 — the action, and the brake.</a:t>
            </a:r>
          </a:p>
          <a:p/>
          <a:p>
            <a:r>
              <a:t>Two things to say, no more.</a:t>
            </a:r>
          </a:p>
          <a:p/>
          <a:p>
            <a:r>
              <a:t>One: the playbook is gated. You cannot reroute until somebody has confirmed</a:t>
            </a:r>
          </a:p>
          <a:p>
            <a:r>
              <a:t>the disruption first-hand. That is deliberate — speed without confirmation is</a:t>
            </a:r>
          </a:p>
          <a:p>
            <a:r>
              <a:t>just an expensive mistake made faster.</a:t>
            </a:r>
          </a:p>
          <a:p/>
          <a:p>
            <a:r>
              <a:t>Two: when it unlocks, the escalation is already written — recipients, subject,</a:t>
            </a:r>
          </a:p>
          <a:p>
            <a:r>
              <a:t>the exposure, the contracts, the deadline. The planner presses send.</a:t>
            </a:r>
          </a:p>
          <a:p/>
          <a:p>
            <a:r>
              <a:t>Only options worth more than they cost are listed. When none of them are, the</a:t>
            </a:r>
          </a:p>
          <a:p>
            <a:r>
              <a:t>tool says so instead of inventing one. That is the profitability guard.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[2:35–2:50]  CLOSING THE LOOP — the differentiator, said quickly.</a:t>
            </a:r>
          </a:p>
          <a:p/>
          <a:p>
            <a:r>
              <a:t>Every competitor watches feeds. Almost none of them collect from the driver.</a:t>
            </a:r>
          </a:p>
          <a:p>
            <a:r>
              <a:t>Four taps, on a phone, at the roadside — and that report is the thing that</a:t>
            </a:r>
          </a:p>
          <a:p>
            <a:r>
              <a:t>releases the reroute.</a:t>
            </a:r>
          </a:p>
          <a:p/>
          <a:p>
            <a:r>
              <a:t>Mention the two engineering details only if asked: EXIF stripped on upload,</a:t>
            </a:r>
          </a:p>
          <a:p>
            <a:r>
              <a:t>per-driver credentials on the endpoint. They matter to a procurement team,</a:t>
            </a:r>
          </a:p>
          <a:p>
            <a:r>
              <a:t>not to a pitch audience.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[2:50–3:10]  COMPETITION — guide item 4.</a:t>
            </a:r>
          </a:p>
          <a:p/>
          <a:p>
            <a:r>
              <a:t>Read only the two rows nobody else ticks: "gives a deadline to act by" and</a:t>
            </a:r>
          </a:p>
          <a:p>
            <a:r>
              <a:t>"confirms from the vehicle itself". Those are the differentiators; the rest of</a:t>
            </a:r>
          </a:p>
          <a:p>
            <a:r>
              <a:t>the grid is there so the room can check we know the landscape.</a:t>
            </a:r>
          </a:p>
          <a:p/>
          <a:p>
            <a:r>
              <a:t>If challenged on the last row: the noise filter is deterministic, not a model,</a:t>
            </a:r>
          </a:p>
          <a:p>
            <a:r>
              <a:t>so the pipeline costs nothing per event and the same input always produces the</a:t>
            </a:r>
          </a:p>
          <a:p>
            <a:r>
              <a:t>same output. A model is only called on the handful of items that survive.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[3:10–3:45]  BUSINESS MODEL + GO-TO-MARKET — guide items 2 and 5.</a:t>
            </a:r>
          </a:p>
          <a:p/>
          <a:p>
            <a:r>
              <a:t>Compress. One sentence per column:</a:t>
            </a:r>
          </a:p>
          <a:p/>
          <a:p>
            <a:r>
              <a:t>"Per seat, per year, priced against a single avoided expedite. Land on the</a:t>
            </a:r>
          </a:p>
          <a:p>
            <a:r>
              <a:t>Rhine corridor inside Sika, widen along the same engine, then out to every</a:t>
            </a:r>
          </a:p>
          <a:p>
            <a:r>
              <a:t>manufacturer with fixed delivery dates. And it is cheap to run, because the</a:t>
            </a:r>
          </a:p>
          <a:p>
            <a:r>
              <a:t>feeds are free and the filter is deterministic — the bill does not grow with</a:t>
            </a:r>
          </a:p>
          <a:p>
            <a:r>
              <a:t>the news."</a:t>
            </a:r>
          </a:p>
          <a:p/>
          <a:p>
            <a:r>
              <a:t>If the clock is against you, drop the third column entirely and keep it for</a:t>
            </a:r>
          </a:p>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[3:45–4:00]  TEAM + ASK — finish early rather than late.</a:t>
            </a:r>
          </a:p>
          <a:p/>
          <a:p>
            <a:r>
              <a:t>"This is working software, not a mockup — five hundred tests, every figure</a:t>
            </a:r>
          </a:p>
          <a:p>
            <a:r>
              <a:t>reproducible from a pinned date. What we want is one corridor and one planner</a:t>
            </a:r>
          </a:p>
          <a:p>
            <a:r>
              <a:t>for two weeks, and we will count how many consignments kept their date."</a:t>
            </a:r>
          </a:p>
          <a:p/>
          <a:p>
            <a:r>
              <a:t>Then stop. Do not fill the silence.</a:t>
            </a:r>
          </a:p>
          <a:p/>
          <a:p>
            <a:r>
              <a:t>Team introductions go here if the format asks for them — names, one line each,</a:t>
            </a:r>
          </a:p>
          <a:p>
            <a:r>
              <a:t>and move on. The guide is right that judges want to know who is building it;</a:t>
            </a:r>
          </a:p>
          <a:p>
            <a:r>
              <a:t>it is also right that thirty seconds is plenty.</a:t>
            </a:r>
          </a:p>
          <a:p/>
          <a:p>
            <a:r>
              <a:t>TOTAL: 4:00. Rehearse against a clock — slides 4, 5 and 6 are where time is</a:t>
            </a:r>
          </a:p>
          <a:p>
            <a:r>
              <a:t>lost, so cut there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0" y="6775704"/>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6775704"/>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2926080"/>
          </a:xfrm>
          <a:prstGeom prst="rect">
            <a:avLst/>
          </a:prstGeom>
          <a:noFill/>
        </p:spPr>
        <p:txBody>
          <a:bodyPr wrap="square" anchor="t" lIns="0" rIns="0" tIns="0" bIns="0">
            <a:spAutoFit/>
          </a:bodyPr>
          <a:lstStyle/>
          <a:p>
            <a:pPr algn="l">
              <a:lnSpc>
                <a:spcPct val="100000"/>
              </a:lnSpc>
              <a:spcAft>
                <a:spcPts val="1000"/>
              </a:spcAft>
            </a:pPr>
            <a:r>
              <a:rPr sz="5400" b="1">
                <a:solidFill>
                  <a:srgbClr val="FFFFFF"/>
                </a:solidFill>
                <a:latin typeface="Verdana"/>
              </a:rPr>
              <a:t>Supply Chain Risk Radar</a:t>
            </a:r>
          </a:p>
          <a:p>
            <a:pPr algn="l">
              <a:lnSpc>
                <a:spcPct val="100000"/>
              </a:lnSpc>
              <a:spcAft>
                <a:spcPts val="2600"/>
              </a:spcAft>
            </a:pPr>
            <a:r>
              <a:rPr sz="2600" b="0">
                <a:solidFill>
                  <a:srgbClr val="FFC700"/>
                </a:solidFill>
                <a:latin typeface="Verdana"/>
              </a:rPr>
              <a:t>When the Rhine drops, the freight still has to arrive.</a:t>
            </a:r>
          </a:p>
          <a:p>
            <a:pPr algn="l">
              <a:lnSpc>
                <a:spcPct val="100000"/>
              </a:lnSpc>
              <a:spcAft>
                <a:spcPts val="0"/>
              </a:spcAft>
            </a:pPr>
            <a:r>
              <a:rPr sz="1800" b="0">
                <a:solidFill>
                  <a:srgbClr val="C9C5BC"/>
                </a:solidFill>
                <a:latin typeface="Verdana"/>
              </a:rPr>
              <a:t>A decision tool for Sika's transport planners: it turns a disruption into a named action with a deadline, in minutes rather than days.</a:t>
            </a:r>
          </a:p>
        </p:txBody>
      </p:sp>
      <p:sp>
        <p:nvSpPr>
          <p:cNvPr id="5" name="TextBox 4"/>
          <p:cNvSpPr txBox="1"/>
          <p:nvPr/>
        </p:nvSpPr>
        <p:spPr>
          <a:xfrm>
            <a:off x="822960" y="5852160"/>
            <a:ext cx="10515600" cy="548640"/>
          </a:xfrm>
          <a:prstGeom prst="rect">
            <a:avLst/>
          </a:prstGeom>
          <a:noFill/>
        </p:spPr>
        <p:txBody>
          <a:bodyPr wrap="square" anchor="t" lIns="0" rIns="0" tIns="0" bIns="0">
            <a:spAutoFit/>
          </a:bodyPr>
          <a:lstStyle/>
          <a:p>
            <a:pPr algn="l">
              <a:lnSpc>
                <a:spcPct val="100000"/>
              </a:lnSpc>
              <a:spcAft>
                <a:spcPts val="0"/>
              </a:spcAft>
            </a:pPr>
            <a:r>
              <a:rPr sz="1300" b="0">
                <a:solidFill>
                  <a:srgbClr val="6B665E"/>
                </a:solidFill>
                <a:latin typeface="Verdana"/>
              </a:rPr>
              <a:t>Sika Innovathon 2026  ·  Team A  ·  4-minute pitch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6" name="Rectangle 5"/>
          <p:cNvSpPr/>
          <p:nvPr/>
        </p:nvSpPr>
        <p:spPr>
          <a:xfrm>
            <a:off x="6300360" y="859680"/>
            <a:ext cx="5230080" cy="5622387"/>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5120640" cy="4937760"/>
          </a:xfrm>
          <a:prstGeom prst="rect">
            <a:avLst/>
          </a:prstGeom>
          <a:noFill/>
        </p:spPr>
        <p:txBody>
          <a:bodyPr wrap="square" anchor="t" lIns="0" rIns="0" tIns="0" bIns="0">
            <a:spAutoFit/>
          </a:bodyPr>
          <a:lstStyle/>
          <a:p>
            <a:pPr algn="l">
              <a:lnSpc>
                <a:spcPct val="100000"/>
              </a:lnSpc>
              <a:spcAft>
                <a:spcPts val="1800"/>
              </a:spcAft>
            </a:pPr>
            <a:r>
              <a:rPr sz="3400" b="1">
                <a:solidFill>
                  <a:srgbClr val="141416"/>
                </a:solidFill>
                <a:latin typeface="Verdana"/>
              </a:rPr>
              <a:t>A real Monday morning</a:t>
            </a:r>
          </a:p>
          <a:p>
            <a:pPr algn="l">
              <a:lnSpc>
                <a:spcPct val="100000"/>
              </a:lnSpc>
              <a:spcAft>
                <a:spcPts val="1400"/>
              </a:spcAft>
            </a:pPr>
            <a:r>
              <a:rPr sz="1700" b="0">
                <a:solidFill>
                  <a:srgbClr val="141416"/>
                </a:solidFill>
                <a:latin typeface="Verdana"/>
              </a:rPr>
              <a:t>The Kaub gauge on the Rhine falls. Barges out of Basel are cut to 45% of full payload.</a:t>
            </a:r>
          </a:p>
          <a:p>
            <a:pPr algn="l">
              <a:lnSpc>
                <a:spcPct val="100000"/>
              </a:lnSpc>
              <a:spcAft>
                <a:spcPts val="1400"/>
              </a:spcAft>
            </a:pPr>
            <a:r>
              <a:rPr sz="1700" b="0">
                <a:solidFill>
                  <a:srgbClr val="141416"/>
                </a:solidFill>
                <a:latin typeface="Verdana"/>
              </a:rPr>
              <a:t>The planner knows within the hour. What they do not know is which of 28 consignments are on the water, which customer contracts they belong to, and which ones still have an option left.</a:t>
            </a:r>
          </a:p>
          <a:p>
            <a:pPr algn="l">
              <a:lnSpc>
                <a:spcPct val="100000"/>
              </a:lnSpc>
              <a:spcAft>
                <a:spcPts val="2200"/>
              </a:spcAft>
            </a:pPr>
            <a:r>
              <a:rPr sz="1700" b="1">
                <a:solidFill>
                  <a:srgbClr val="D9042B"/>
                </a:solidFill>
                <a:latin typeface="Verdana"/>
              </a:rPr>
              <a:t>That part takes a day and a half of phone calls, and the cheapest options expire while it happens.</a:t>
            </a:r>
          </a:p>
          <a:p>
            <a:pPr algn="l">
              <a:lnSpc>
                <a:spcPct val="100000"/>
              </a:lnSpc>
              <a:spcAft>
                <a:spcPts val="0"/>
              </a:spcAft>
            </a:pPr>
            <a:r>
              <a:rPr sz="1900" b="1">
                <a:solidFill>
                  <a:srgbClr val="141416"/>
                </a:solidFill>
                <a:latin typeface="Verdana"/>
              </a:rPr>
              <a:t>The loss is not caused by the river. It is caused by the time between the river and the decision.</a:t>
            </a:r>
          </a:p>
        </p:txBody>
      </p:sp>
      <p:pic>
        <p:nvPicPr>
          <p:cNvPr id="5" name="Picture 4" descr="routes_table.png"/>
          <p:cNvPicPr>
            <a:picLocks noChangeAspect="1"/>
          </p:cNvPicPr>
          <p:nvPr/>
        </p:nvPicPr>
        <p:blipFill>
          <a:blip r:embed="rId2"/>
          <a:stretch>
            <a:fillRect/>
          </a:stretch>
        </p:blipFill>
        <p:spPr>
          <a:xfrm>
            <a:off x="6309360" y="868680"/>
            <a:ext cx="5212080" cy="5604387"/>
          </a:xfrm>
          <a:prstGeom prst="rect">
            <a:avLst/>
          </a:prstGeom>
        </p:spPr>
      </p:pic>
      <p:sp>
        <p:nvSpPr>
          <p:cNvPr id="7" name="TextBox 6"/>
          <p:cNvSpPr txBox="1"/>
          <p:nvPr/>
        </p:nvSpPr>
        <p:spPr>
          <a:xfrm>
            <a:off x="6309360" y="6053328"/>
            <a:ext cx="5212080" cy="457200"/>
          </a:xfrm>
          <a:prstGeom prst="rect">
            <a:avLst/>
          </a:prstGeom>
          <a:noFill/>
        </p:spPr>
        <p:txBody>
          <a:bodyPr wrap="square" anchor="t" lIns="0" rIns="0" tIns="0" bIns="0">
            <a:spAutoFit/>
          </a:bodyPr>
          <a:lstStyle/>
          <a:p>
            <a:pPr algn="l">
              <a:lnSpc>
                <a:spcPct val="100000"/>
              </a:lnSpc>
              <a:spcAft>
                <a:spcPts val="0"/>
              </a:spcAft>
            </a:pPr>
            <a:r>
              <a:rPr sz="1100" b="0">
                <a:solidFill>
                  <a:srgbClr val="6B665E"/>
                </a:solidFill>
                <a:latin typeface="Verdana"/>
              </a:rPr>
              <a:t>Every affected lane, ranked by how soon it needs a decision.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22960"/>
            <a:ext cx="10515600" cy="1280160"/>
          </a:xfrm>
          <a:prstGeom prst="rect">
            <a:avLst/>
          </a:prstGeom>
          <a:noFill/>
        </p:spPr>
        <p:txBody>
          <a:bodyPr wrap="square" anchor="t" lIns="0" rIns="0" tIns="0" bIns="0">
            <a:spAutoFit/>
          </a:bodyPr>
          <a:lstStyle/>
          <a:p>
            <a:pPr algn="l">
              <a:lnSpc>
                <a:spcPct val="100000"/>
              </a:lnSpc>
              <a:spcAft>
                <a:spcPts val="800"/>
              </a:spcAft>
            </a:pPr>
            <a:r>
              <a:rPr sz="4000" b="1">
                <a:solidFill>
                  <a:srgbClr val="FFFFFF"/>
                </a:solidFill>
                <a:latin typeface="Verdana"/>
              </a:rPr>
              <a:t>Our value proposition is speed of action</a:t>
            </a:r>
          </a:p>
          <a:p>
            <a:pPr algn="l">
              <a:lnSpc>
                <a:spcPct val="100000"/>
              </a:lnSpc>
              <a:spcAft>
                <a:spcPts val="0"/>
              </a:spcAft>
            </a:pPr>
            <a:r>
              <a:rPr sz="2000" b="0">
                <a:solidFill>
                  <a:srgbClr val="FFC700"/>
                </a:solidFill>
                <a:latin typeface="Verdana"/>
              </a:rPr>
              <a:t>Not prediction. Not a cheaper route. Speed.</a:t>
            </a:r>
          </a:p>
        </p:txBody>
      </p:sp>
      <p:sp>
        <p:nvSpPr>
          <p:cNvPr id="5" name="Rounded Rectangle 4"/>
          <p:cNvSpPr/>
          <p:nvPr/>
        </p:nvSpPr>
        <p:spPr>
          <a:xfrm>
            <a:off x="822960" y="2606040"/>
            <a:ext cx="3383280" cy="2743200"/>
          </a:xfrm>
          <a:prstGeom prst="roundRect">
            <a:avLst/>
          </a:prstGeom>
          <a:solidFill>
            <a:srgbClr val="222225"/>
          </a:solidFill>
          <a:ln>
            <a:solidFill>
              <a:srgbClr val="3A3A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2926080"/>
            <a:ext cx="2743200" cy="2194560"/>
          </a:xfrm>
          <a:prstGeom prst="rect">
            <a:avLst/>
          </a:prstGeom>
          <a:noFill/>
        </p:spPr>
        <p:txBody>
          <a:bodyPr wrap="square" anchor="t" lIns="0" rIns="0" tIns="0" bIns="0">
            <a:spAutoFit/>
          </a:bodyPr>
          <a:lstStyle/>
          <a:p>
            <a:pPr algn="l">
              <a:lnSpc>
                <a:spcPct val="100000"/>
              </a:lnSpc>
              <a:spcAft>
                <a:spcPts val="1200"/>
              </a:spcAft>
            </a:pPr>
            <a:r>
              <a:rPr sz="1500" b="1">
                <a:solidFill>
                  <a:srgbClr val="FFC700"/>
                </a:solidFill>
                <a:latin typeface="Verdana"/>
              </a:rPr>
              <a:t>DELIVER ON TIME</a:t>
            </a:r>
          </a:p>
          <a:p>
            <a:pPr algn="l">
              <a:lnSpc>
                <a:spcPct val="100000"/>
              </a:lnSpc>
              <a:spcAft>
                <a:spcPts val="0"/>
              </a:spcAft>
            </a:pPr>
            <a:r>
              <a:rPr sz="1500" b="0">
                <a:solidFill>
                  <a:srgbClr val="DEDAD2"/>
                </a:solidFill>
                <a:latin typeface="Verdana"/>
              </a:rPr>
              <a:t>The freight reaches the customer on the promised date, even when the lane breaks. That is the thing we optimise for.</a:t>
            </a:r>
          </a:p>
        </p:txBody>
      </p:sp>
      <p:sp>
        <p:nvSpPr>
          <p:cNvPr id="7" name="Rounded Rectangle 6"/>
          <p:cNvSpPr/>
          <p:nvPr/>
        </p:nvSpPr>
        <p:spPr>
          <a:xfrm>
            <a:off x="4343400" y="2606040"/>
            <a:ext cx="3383280" cy="2743200"/>
          </a:xfrm>
          <a:prstGeom prst="roundRect">
            <a:avLst/>
          </a:prstGeom>
          <a:solidFill>
            <a:srgbClr val="222225"/>
          </a:solidFill>
          <a:ln>
            <a:solidFill>
              <a:srgbClr val="3A3A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63440" y="2926080"/>
            <a:ext cx="2743200" cy="2194560"/>
          </a:xfrm>
          <a:prstGeom prst="rect">
            <a:avLst/>
          </a:prstGeom>
          <a:noFill/>
        </p:spPr>
        <p:txBody>
          <a:bodyPr wrap="square" anchor="t" lIns="0" rIns="0" tIns="0" bIns="0">
            <a:spAutoFit/>
          </a:bodyPr>
          <a:lstStyle/>
          <a:p>
            <a:pPr algn="l">
              <a:lnSpc>
                <a:spcPct val="100000"/>
              </a:lnSpc>
              <a:spcAft>
                <a:spcPts val="1200"/>
              </a:spcAft>
            </a:pPr>
            <a:r>
              <a:rPr sz="1500" b="1">
                <a:solidFill>
                  <a:srgbClr val="FFC700"/>
                </a:solidFill>
                <a:latin typeface="Verdana"/>
              </a:rPr>
              <a:t>COST IS SECONDARY</a:t>
            </a:r>
          </a:p>
          <a:p>
            <a:pPr algn="l">
              <a:lnSpc>
                <a:spcPct val="100000"/>
              </a:lnSpc>
              <a:spcAft>
                <a:spcPts val="0"/>
              </a:spcAft>
            </a:pPr>
            <a:r>
              <a:rPr sz="1500" b="0">
                <a:solidFill>
                  <a:srgbClr val="DEDAD2"/>
                </a:solidFill>
                <a:latin typeface="Verdana"/>
              </a:rPr>
              <a:t>We will pay to keep a date. What we will not do is take a route that loses money — every option shown is worth more than it costs.</a:t>
            </a:r>
          </a:p>
        </p:txBody>
      </p:sp>
      <p:sp>
        <p:nvSpPr>
          <p:cNvPr id="9" name="Rounded Rectangle 8"/>
          <p:cNvSpPr/>
          <p:nvPr/>
        </p:nvSpPr>
        <p:spPr>
          <a:xfrm>
            <a:off x="7863840" y="2606040"/>
            <a:ext cx="3383280" cy="2743200"/>
          </a:xfrm>
          <a:prstGeom prst="roundRect">
            <a:avLst/>
          </a:prstGeom>
          <a:solidFill>
            <a:srgbClr val="222225"/>
          </a:solidFill>
          <a:ln>
            <a:solidFill>
              <a:srgbClr val="3A3A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83880" y="2926080"/>
            <a:ext cx="2743200" cy="2194560"/>
          </a:xfrm>
          <a:prstGeom prst="rect">
            <a:avLst/>
          </a:prstGeom>
          <a:noFill/>
        </p:spPr>
        <p:txBody>
          <a:bodyPr wrap="square" anchor="t" lIns="0" rIns="0" tIns="0" bIns="0">
            <a:spAutoFit/>
          </a:bodyPr>
          <a:lstStyle/>
          <a:p>
            <a:pPr algn="l">
              <a:lnSpc>
                <a:spcPct val="100000"/>
              </a:lnSpc>
              <a:spcAft>
                <a:spcPts val="1200"/>
              </a:spcAft>
            </a:pPr>
            <a:r>
              <a:rPr sz="1500" b="1">
                <a:solidFill>
                  <a:srgbClr val="FFC700"/>
                </a:solidFill>
                <a:latin typeface="Verdana"/>
              </a:rPr>
              <a:t>A DEADLINE, NOT A SCORE</a:t>
            </a:r>
          </a:p>
          <a:p>
            <a:pPr algn="l">
              <a:lnSpc>
                <a:spcPct val="100000"/>
              </a:lnSpc>
              <a:spcAft>
                <a:spcPts val="0"/>
              </a:spcAft>
            </a:pPr>
            <a:r>
              <a:rPr sz="1500" b="0">
                <a:solidFill>
                  <a:srgbClr val="DEDAD2"/>
                </a:solidFill>
                <a:latin typeface="Verdana"/>
              </a:rPr>
              <a:t>Each lane carries the hour its cheapest option expires. The ladder is a clock: act within 6 h, within 24–48 h, watch, monitor.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6" name="Rectangle 5"/>
          <p:cNvSpPr/>
          <p:nvPr/>
        </p:nvSpPr>
        <p:spPr>
          <a:xfrm>
            <a:off x="631080" y="1591200"/>
            <a:ext cx="7790400" cy="4875750"/>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6583680" cy="914400"/>
          </a:xfrm>
          <a:prstGeom prst="rect">
            <a:avLst/>
          </a:prstGeom>
          <a:noFill/>
        </p:spPr>
        <p:txBody>
          <a:bodyPr wrap="square" anchor="t" lIns="0" rIns="0" tIns="0" bIns="0">
            <a:spAutoFit/>
          </a:bodyPr>
          <a:lstStyle/>
          <a:p>
            <a:pPr algn="l">
              <a:lnSpc>
                <a:spcPct val="100000"/>
              </a:lnSpc>
              <a:spcAft>
                <a:spcPts val="400"/>
              </a:spcAft>
            </a:pPr>
            <a:r>
              <a:rPr sz="2700" b="1">
                <a:solidFill>
                  <a:srgbClr val="141416"/>
                </a:solidFill>
                <a:latin typeface="Verdana"/>
              </a:rPr>
              <a:t>One board: what is wrong, and how long you have</a:t>
            </a:r>
          </a:p>
          <a:p>
            <a:pPr algn="l">
              <a:lnSpc>
                <a:spcPct val="100000"/>
              </a:lnSpc>
              <a:spcAft>
                <a:spcPts val="0"/>
              </a:spcAft>
            </a:pPr>
            <a:r>
              <a:rPr sz="1500" b="0">
                <a:solidFill>
                  <a:srgbClr val="6B665E"/>
                </a:solidFill>
                <a:latin typeface="Verdana"/>
              </a:rPr>
              <a:t>Every lane in the book, ranked by time-to-act rather than by severity.</a:t>
            </a:r>
          </a:p>
        </p:txBody>
      </p:sp>
      <p:pic>
        <p:nvPicPr>
          <p:cNvPr id="5" name="Picture 4" descr="board.png"/>
          <p:cNvPicPr>
            <a:picLocks noChangeAspect="1"/>
          </p:cNvPicPr>
          <p:nvPr/>
        </p:nvPicPr>
        <p:blipFill>
          <a:blip r:embed="rId2"/>
          <a:stretch>
            <a:fillRect/>
          </a:stretch>
        </p:blipFill>
        <p:spPr>
          <a:xfrm>
            <a:off x="640080" y="1600200"/>
            <a:ext cx="7772400" cy="4857750"/>
          </a:xfrm>
          <a:prstGeom prst="rect">
            <a:avLst/>
          </a:prstGeom>
        </p:spPr>
      </p:pic>
      <p:sp>
        <p:nvSpPr>
          <p:cNvPr id="7" name="TextBox 6"/>
          <p:cNvSpPr txBox="1"/>
          <p:nvPr/>
        </p:nvSpPr>
        <p:spPr>
          <a:xfrm>
            <a:off x="8732520" y="1600200"/>
            <a:ext cx="2926080" cy="4572000"/>
          </a:xfrm>
          <a:prstGeom prst="rect">
            <a:avLst/>
          </a:prstGeom>
          <a:noFill/>
        </p:spPr>
        <p:txBody>
          <a:bodyPr wrap="square" anchor="t" lIns="0" rIns="0" tIns="0" bIns="0">
            <a:spAutoFit/>
          </a:bodyPr>
          <a:lstStyle/>
          <a:p>
            <a:pPr algn="l">
              <a:lnSpc>
                <a:spcPct val="100000"/>
              </a:lnSpc>
              <a:spcAft>
                <a:spcPts val="1000"/>
              </a:spcAft>
            </a:pPr>
            <a:r>
              <a:rPr sz="1200" b="1">
                <a:solidFill>
                  <a:srgbClr val="D9042B"/>
                </a:solidFill>
                <a:latin typeface="Verdana"/>
              </a:rPr>
              <a:t>CRITICAL  ·  ALERT  ·  WATCH  ·  BIAS  ·  NORMAL</a:t>
            </a:r>
          </a:p>
          <a:p>
            <a:pPr algn="l">
              <a:lnSpc>
                <a:spcPct val="100000"/>
              </a:lnSpc>
              <a:spcAft>
                <a:spcPts val="1600"/>
              </a:spcAft>
            </a:pPr>
            <a:r>
              <a:rPr sz="1400" b="0">
                <a:solidFill>
                  <a:srgbClr val="141416"/>
                </a:solidFill>
                <a:latin typeface="Verdana"/>
              </a:rPr>
              <a:t>Five rungs, and every one of them is a deadline — 6 h, 24–48 h, 3–7 days, monitor, nothing to do.</a:t>
            </a:r>
          </a:p>
          <a:p>
            <a:pPr algn="l">
              <a:lnSpc>
                <a:spcPct val="100000"/>
              </a:lnSpc>
              <a:spcAft>
                <a:spcPts val="200"/>
              </a:spcAft>
            </a:pPr>
            <a:r>
              <a:rPr sz="2600" b="1">
                <a:solidFill>
                  <a:srgbClr val="141416"/>
                </a:solidFill>
                <a:latin typeface="Verdana"/>
              </a:rPr>
              <a:t>CHF 509,452</a:t>
            </a:r>
          </a:p>
          <a:p>
            <a:pPr algn="l">
              <a:lnSpc>
                <a:spcPct val="100000"/>
              </a:lnSpc>
              <a:spcAft>
                <a:spcPts val="1600"/>
              </a:spcAft>
            </a:pPr>
            <a:r>
              <a:rPr sz="1300" b="0">
                <a:solidFill>
                  <a:srgbClr val="6B665E"/>
                </a:solidFill>
                <a:latin typeface="Verdana"/>
              </a:rPr>
              <a:t>expected loss across the book, which is what trips the convene rule.</a:t>
            </a:r>
          </a:p>
          <a:p>
            <a:pPr algn="l">
              <a:lnSpc>
                <a:spcPct val="100000"/>
              </a:lnSpc>
              <a:spcAft>
                <a:spcPts val="200"/>
              </a:spcAft>
            </a:pPr>
            <a:r>
              <a:rPr sz="2200" b="1">
                <a:solidFill>
                  <a:srgbClr val="141416"/>
                </a:solidFill>
                <a:latin typeface="Verdana"/>
              </a:rPr>
              <a:t>48 shipments</a:t>
            </a:r>
          </a:p>
          <a:p>
            <a:pPr algn="l">
              <a:lnSpc>
                <a:spcPct val="100000"/>
              </a:lnSpc>
              <a:spcAft>
                <a:spcPts val="1600"/>
              </a:spcAft>
            </a:pPr>
            <a:r>
              <a:rPr sz="1300" b="0">
                <a:solidFill>
                  <a:srgbClr val="6B665E"/>
                </a:solidFill>
                <a:latin typeface="Verdana"/>
              </a:rPr>
              <a:t>need a decision inside 48 h — and the team does not sit again until Tuesday.</a:t>
            </a:r>
          </a:p>
          <a:p>
            <a:pPr algn="l">
              <a:lnSpc>
                <a:spcPct val="100000"/>
              </a:lnSpc>
              <a:spcAft>
                <a:spcPts val="0"/>
              </a:spcAft>
            </a:pPr>
            <a:r>
              <a:rPr sz="1200" b="1">
                <a:solidFill>
                  <a:srgbClr val="6B665E"/>
                </a:solidFill>
                <a:latin typeface="Verdana"/>
              </a:rPr>
              <a:t>Advisory. The tool proposes; the planner decides.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8" name="Rectangle 7"/>
          <p:cNvSpPr/>
          <p:nvPr/>
        </p:nvSpPr>
        <p:spPr>
          <a:xfrm>
            <a:off x="7580520" y="2322720"/>
            <a:ext cx="4041360" cy="1506496"/>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1080" y="1682640"/>
            <a:ext cx="6693120" cy="4189950"/>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10881360" cy="914400"/>
          </a:xfrm>
          <a:prstGeom prst="rect">
            <a:avLst/>
          </a:prstGeom>
          <a:noFill/>
        </p:spPr>
        <p:txBody>
          <a:bodyPr wrap="square" anchor="t" lIns="0" rIns="0" tIns="0" bIns="0">
            <a:spAutoFit/>
          </a:bodyPr>
          <a:lstStyle/>
          <a:p>
            <a:pPr algn="l">
              <a:lnSpc>
                <a:spcPct val="100000"/>
              </a:lnSpc>
              <a:spcAft>
                <a:spcPts val="400"/>
              </a:spcAft>
            </a:pPr>
            <a:r>
              <a:rPr sz="2700" b="1">
                <a:solidFill>
                  <a:srgbClr val="141416"/>
                </a:solidFill>
                <a:latin typeface="Verdana"/>
              </a:rPr>
              <a:t>Click a lane, and you see the freight — not a chart</a:t>
            </a:r>
          </a:p>
          <a:p>
            <a:pPr algn="l">
              <a:lnSpc>
                <a:spcPct val="100000"/>
              </a:lnSpc>
              <a:spcAft>
                <a:spcPts val="0"/>
              </a:spcAft>
            </a:pPr>
            <a:r>
              <a:rPr sz="1500" b="0">
                <a:solidFill>
                  <a:srgbClr val="6B665E"/>
                </a:solidFill>
                <a:latin typeface="Verdana"/>
              </a:rPr>
              <a:t>Düdingen → Basel → Rotterdam. 28 consignments, leg by leg. Green is on plan, amber still has an option open, red has run out of them.</a:t>
            </a:r>
          </a:p>
        </p:txBody>
      </p:sp>
      <p:pic>
        <p:nvPicPr>
          <p:cNvPr id="5" name="Picture 4" descr="route.png"/>
          <p:cNvPicPr>
            <a:picLocks noChangeAspect="1"/>
          </p:cNvPicPr>
          <p:nvPr/>
        </p:nvPicPr>
        <p:blipFill>
          <a:blip r:embed="rId2"/>
          <a:stretch>
            <a:fillRect/>
          </a:stretch>
        </p:blipFill>
        <p:spPr>
          <a:xfrm>
            <a:off x="640080" y="1691640"/>
            <a:ext cx="6675120" cy="4171950"/>
          </a:xfrm>
          <a:prstGeom prst="rect">
            <a:avLst/>
          </a:prstGeom>
        </p:spPr>
      </p:pic>
      <p:pic>
        <p:nvPicPr>
          <p:cNvPr id="7" name="Picture 6" descr="vehicle_panel.png"/>
          <p:cNvPicPr>
            <a:picLocks noChangeAspect="1"/>
          </p:cNvPicPr>
          <p:nvPr/>
        </p:nvPicPr>
        <p:blipFill>
          <a:blip r:embed="rId3"/>
          <a:stretch>
            <a:fillRect/>
          </a:stretch>
        </p:blipFill>
        <p:spPr>
          <a:xfrm>
            <a:off x="7589520" y="2331720"/>
            <a:ext cx="4023360" cy="1488496"/>
          </a:xfrm>
          <a:prstGeom prst="rect">
            <a:avLst/>
          </a:prstGeom>
        </p:spPr>
      </p:pic>
      <p:sp>
        <p:nvSpPr>
          <p:cNvPr id="9" name="TextBox 8"/>
          <p:cNvSpPr txBox="1"/>
          <p:nvPr/>
        </p:nvSpPr>
        <p:spPr>
          <a:xfrm>
            <a:off x="7589520" y="1691640"/>
            <a:ext cx="4023360" cy="548640"/>
          </a:xfrm>
          <a:prstGeom prst="rect">
            <a:avLst/>
          </a:prstGeom>
          <a:noFill/>
        </p:spPr>
        <p:txBody>
          <a:bodyPr wrap="square" anchor="t" lIns="0" rIns="0" tIns="0" bIns="0">
            <a:spAutoFit/>
          </a:bodyPr>
          <a:lstStyle/>
          <a:p>
            <a:pPr algn="l">
              <a:lnSpc>
                <a:spcPct val="100000"/>
              </a:lnSpc>
              <a:spcAft>
                <a:spcPts val="0"/>
              </a:spcAft>
            </a:pPr>
            <a:r>
              <a:rPr sz="1500" b="1">
                <a:solidFill>
                  <a:srgbClr val="141416"/>
                </a:solidFill>
                <a:latin typeface="Verdana"/>
              </a:rPr>
              <a:t>Click one truck or barge:</a:t>
            </a:r>
          </a:p>
        </p:txBody>
      </p:sp>
      <p:sp>
        <p:nvSpPr>
          <p:cNvPr id="10" name="TextBox 9"/>
          <p:cNvSpPr txBox="1"/>
          <p:nvPr/>
        </p:nvSpPr>
        <p:spPr>
          <a:xfrm>
            <a:off x="7589520" y="3977639"/>
            <a:ext cx="4023360" cy="2377440"/>
          </a:xfrm>
          <a:prstGeom prst="rect">
            <a:avLst/>
          </a:prstGeom>
          <a:noFill/>
        </p:spPr>
        <p:txBody>
          <a:bodyPr wrap="square" anchor="t" lIns="0" rIns="0" tIns="0" bIns="0">
            <a:spAutoFit/>
          </a:bodyPr>
          <a:lstStyle/>
          <a:p>
            <a:pPr algn="l">
              <a:lnSpc>
                <a:spcPct val="100000"/>
              </a:lnSpc>
              <a:spcAft>
                <a:spcPts val="1400"/>
              </a:spcAft>
            </a:pPr>
            <a:r>
              <a:rPr sz="1400" b="0">
                <a:solidFill>
                  <a:srgbClr val="141416"/>
                </a:solidFill>
                <a:latin typeface="Verdana"/>
              </a:rPr>
              <a:t>the consignment ID, the customer, the value, how far it has got, what is hitting it, and what the driver reported from the road.</a:t>
            </a:r>
          </a:p>
          <a:p>
            <a:pPr algn="l">
              <a:lnSpc>
                <a:spcPct val="100000"/>
              </a:lnSpc>
              <a:spcAft>
                <a:spcPts val="0"/>
              </a:spcAft>
            </a:pPr>
            <a:r>
              <a:rPr sz="1400" b="1">
                <a:solidFill>
                  <a:srgbClr val="D9042B"/>
                </a:solidFill>
                <a:latin typeface="Verdana"/>
              </a:rPr>
              <a:t>36 h until the first option closes · CHF 184,352 exposed · 18 consignments can still be changed.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8" name="Rectangle 7"/>
          <p:cNvSpPr/>
          <p:nvPr/>
        </p:nvSpPr>
        <p:spPr>
          <a:xfrm>
            <a:off x="7214760" y="1682640"/>
            <a:ext cx="3035520" cy="4269405"/>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1080" y="1682640"/>
            <a:ext cx="5961600" cy="3732750"/>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10881360" cy="914400"/>
          </a:xfrm>
          <a:prstGeom prst="rect">
            <a:avLst/>
          </a:prstGeom>
          <a:noFill/>
        </p:spPr>
        <p:txBody>
          <a:bodyPr wrap="square" anchor="t" lIns="0" rIns="0" tIns="0" bIns="0">
            <a:spAutoFit/>
          </a:bodyPr>
          <a:lstStyle/>
          <a:p>
            <a:pPr algn="l">
              <a:lnSpc>
                <a:spcPct val="100000"/>
              </a:lnSpc>
              <a:spcAft>
                <a:spcPts val="400"/>
              </a:spcAft>
            </a:pPr>
            <a:r>
              <a:rPr sz="2700" b="1">
                <a:solidFill>
                  <a:srgbClr val="141416"/>
                </a:solidFill>
                <a:latin typeface="Verdana"/>
              </a:rPr>
              <a:t>From alert to an executed decision</a:t>
            </a:r>
          </a:p>
          <a:p>
            <a:pPr algn="l">
              <a:lnSpc>
                <a:spcPct val="100000"/>
              </a:lnSpc>
              <a:spcAft>
                <a:spcPts val="0"/>
              </a:spcAft>
            </a:pPr>
            <a:r>
              <a:rPr sz="1500" b="0">
                <a:solidFill>
                  <a:srgbClr val="6B665E"/>
                </a:solidFill>
                <a:latin typeface="Verdana"/>
              </a:rPr>
              <a:t>A gated playbook, then a message with the approval already worked out.</a:t>
            </a:r>
          </a:p>
        </p:txBody>
      </p:sp>
      <p:pic>
        <p:nvPicPr>
          <p:cNvPr id="5" name="Picture 4" descr="alternatives.png"/>
          <p:cNvPicPr>
            <a:picLocks noChangeAspect="1"/>
          </p:cNvPicPr>
          <p:nvPr/>
        </p:nvPicPr>
        <p:blipFill>
          <a:blip r:embed="rId2"/>
          <a:stretch>
            <a:fillRect/>
          </a:stretch>
        </p:blipFill>
        <p:spPr>
          <a:xfrm>
            <a:off x="640080" y="1691640"/>
            <a:ext cx="5943600" cy="3714750"/>
          </a:xfrm>
          <a:prstGeom prst="rect">
            <a:avLst/>
          </a:prstGeom>
        </p:spPr>
      </p:pic>
      <p:pic>
        <p:nvPicPr>
          <p:cNvPr id="7" name="Picture 6" descr="escalate_panel.png"/>
          <p:cNvPicPr>
            <a:picLocks noChangeAspect="1"/>
          </p:cNvPicPr>
          <p:nvPr/>
        </p:nvPicPr>
        <p:blipFill>
          <a:blip r:embed="rId3"/>
          <a:stretch>
            <a:fillRect/>
          </a:stretch>
        </p:blipFill>
        <p:spPr>
          <a:xfrm>
            <a:off x="7223760" y="1691640"/>
            <a:ext cx="3017520" cy="4251405"/>
          </a:xfrm>
          <a:prstGeom prst="rect">
            <a:avLst/>
          </a:prstGeom>
        </p:spPr>
      </p:pic>
      <p:sp>
        <p:nvSpPr>
          <p:cNvPr id="9" name="TextBox 8"/>
          <p:cNvSpPr txBox="1"/>
          <p:nvPr/>
        </p:nvSpPr>
        <p:spPr>
          <a:xfrm>
            <a:off x="10515600" y="1783080"/>
            <a:ext cx="1371600" cy="4114800"/>
          </a:xfrm>
          <a:prstGeom prst="rect">
            <a:avLst/>
          </a:prstGeom>
          <a:noFill/>
        </p:spPr>
        <p:txBody>
          <a:bodyPr wrap="square" anchor="t" lIns="0" rIns="0" tIns="0" bIns="0">
            <a:spAutoFit/>
          </a:bodyPr>
          <a:lstStyle/>
          <a:p>
            <a:pPr algn="l">
              <a:lnSpc>
                <a:spcPct val="100000"/>
              </a:lnSpc>
              <a:spcAft>
                <a:spcPts val="800"/>
              </a:spcAft>
            </a:pPr>
            <a:r>
              <a:rPr sz="1300" b="1">
                <a:solidFill>
                  <a:srgbClr val="D9042B"/>
                </a:solidFill>
                <a:latin typeface="Verdana"/>
              </a:rPr>
              <a:t>LOCKED</a:t>
            </a:r>
          </a:p>
          <a:p>
            <a:pPr algn="l">
              <a:lnSpc>
                <a:spcPct val="100000"/>
              </a:lnSpc>
              <a:spcAft>
                <a:spcPts val="1400"/>
              </a:spcAft>
            </a:pPr>
            <a:r>
              <a:rPr sz="1200" b="0">
                <a:solidFill>
                  <a:srgbClr val="141416"/>
                </a:solidFill>
                <a:latin typeface="Verdana"/>
              </a:rPr>
              <a:t>Rerouting stays locked until a human confirms the disruption first-hand. The tool will not spend money on a rumour.</a:t>
            </a:r>
          </a:p>
          <a:p>
            <a:pPr algn="l">
              <a:lnSpc>
                <a:spcPct val="100000"/>
              </a:lnSpc>
              <a:spcAft>
                <a:spcPts val="800"/>
              </a:spcAft>
            </a:pPr>
            <a:r>
              <a:rPr sz="1300" b="1">
                <a:solidFill>
                  <a:srgbClr val="D9042B"/>
                </a:solidFill>
                <a:latin typeface="Verdana"/>
              </a:rPr>
              <a:t>COMPOSED</a:t>
            </a:r>
          </a:p>
          <a:p>
            <a:pPr algn="l">
              <a:lnSpc>
                <a:spcPct val="100000"/>
              </a:lnSpc>
              <a:spcAft>
                <a:spcPts val="0"/>
              </a:spcAft>
            </a:pPr>
            <a:r>
              <a:rPr sz="1200" b="0">
                <a:solidFill>
                  <a:srgbClr val="141416"/>
                </a:solidFill>
                <a:latin typeface="Verdana"/>
              </a:rPr>
              <a:t>Who to notify, what to say, and the numbers behind it — ready to send.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6" name="Rectangle 5"/>
          <p:cNvSpPr/>
          <p:nvPr/>
        </p:nvSpPr>
        <p:spPr>
          <a:xfrm>
            <a:off x="8220600" y="676800"/>
            <a:ext cx="3146441" cy="5595840"/>
          </a:xfrm>
          <a:prstGeom prst="rect">
            <a:avLst/>
          </a:prstGeom>
          <a:noFill/>
          <a:ln w="12700">
            <a:solidFill>
              <a:srgbClr val="D8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6675120" cy="4206240"/>
          </a:xfrm>
          <a:prstGeom prst="rect">
            <a:avLst/>
          </a:prstGeom>
          <a:noFill/>
        </p:spPr>
        <p:txBody>
          <a:bodyPr wrap="square" anchor="t" lIns="0" rIns="0" tIns="0" bIns="0">
            <a:spAutoFit/>
          </a:bodyPr>
          <a:lstStyle/>
          <a:p>
            <a:pPr algn="l">
              <a:lnSpc>
                <a:spcPct val="100000"/>
              </a:lnSpc>
              <a:spcAft>
                <a:spcPts val="1600"/>
              </a:spcAft>
            </a:pPr>
            <a:r>
              <a:rPr sz="3000" b="1">
                <a:solidFill>
                  <a:srgbClr val="141416"/>
                </a:solidFill>
                <a:latin typeface="Verdana"/>
              </a:rPr>
              <a:t>The confirmation comes from the road</a:t>
            </a:r>
          </a:p>
          <a:p>
            <a:pPr algn="l">
              <a:lnSpc>
                <a:spcPct val="100000"/>
              </a:lnSpc>
              <a:spcAft>
                <a:spcPts val="1400"/>
              </a:spcAft>
            </a:pPr>
            <a:r>
              <a:rPr sz="1700" b="0">
                <a:solidFill>
                  <a:srgbClr val="141416"/>
                </a:solidFill>
                <a:latin typeface="Verdana"/>
              </a:rPr>
              <a:t>The person with the load files in four taps: where they are, whether the load is intact, a photo, a revised arrival time.</a:t>
            </a:r>
          </a:p>
          <a:p>
            <a:pPr algn="l">
              <a:lnSpc>
                <a:spcPct val="100000"/>
              </a:lnSpc>
              <a:spcAft>
                <a:spcPts val="1800"/>
              </a:spcAft>
            </a:pPr>
            <a:r>
              <a:rPr sz="1700" b="0">
                <a:solidFill>
                  <a:srgbClr val="141416"/>
                </a:solidFill>
                <a:latin typeface="Verdana"/>
              </a:rPr>
              <a:t>That report is what unlocks the reroute. It is also what makes the radar's picture true rather than modelled.</a:t>
            </a:r>
          </a:p>
          <a:p>
            <a:pPr algn="l">
              <a:lnSpc>
                <a:spcPct val="100000"/>
              </a:lnSpc>
              <a:spcAft>
                <a:spcPts val="1400"/>
              </a:spcAft>
            </a:pPr>
            <a:r>
              <a:rPr sz="1500" b="0">
                <a:solidFill>
                  <a:srgbClr val="6B665E"/>
                </a:solidFill>
                <a:latin typeface="Verdana"/>
              </a:rPr>
              <a:t>Photos are stripped of EXIF before they are stored, and every report is signed with a per-driver credential.</a:t>
            </a:r>
          </a:p>
          <a:p>
            <a:pPr algn="l">
              <a:lnSpc>
                <a:spcPct val="100000"/>
              </a:lnSpc>
              <a:spcAft>
                <a:spcPts val="0"/>
              </a:spcAft>
            </a:pPr>
            <a:r>
              <a:rPr sz="1700" b="1">
                <a:solidFill>
                  <a:srgbClr val="D9042B"/>
                </a:solidFill>
                <a:latin typeface="Verdana"/>
              </a:rPr>
              <a:t>Detect → confirm → act → close out. The loop closes in the app, not in a mailbox.</a:t>
            </a:r>
          </a:p>
        </p:txBody>
      </p:sp>
      <p:pic>
        <p:nvPicPr>
          <p:cNvPr id="5" name="Picture 4" descr="driver_tall.png"/>
          <p:cNvPicPr>
            <a:picLocks noChangeAspect="1"/>
          </p:cNvPicPr>
          <p:nvPr/>
        </p:nvPicPr>
        <p:blipFill>
          <a:blip r:embed="rId2"/>
          <a:stretch>
            <a:fillRect/>
          </a:stretch>
        </p:blipFill>
        <p:spPr>
          <a:xfrm>
            <a:off x="8229600" y="685800"/>
            <a:ext cx="3128441" cy="55778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698480" cy="914400"/>
          </a:xfrm>
          <a:prstGeom prst="rect">
            <a:avLst/>
          </a:prstGeom>
          <a:noFill/>
        </p:spPr>
        <p:txBody>
          <a:bodyPr wrap="square" anchor="t" lIns="0" rIns="0" tIns="0" bIns="0">
            <a:spAutoFit/>
          </a:bodyPr>
          <a:lstStyle/>
          <a:p>
            <a:pPr algn="l">
              <a:lnSpc>
                <a:spcPct val="100000"/>
              </a:lnSpc>
              <a:spcAft>
                <a:spcPts val="400"/>
              </a:spcAft>
            </a:pPr>
            <a:r>
              <a:rPr sz="3000" b="1">
                <a:solidFill>
                  <a:srgbClr val="141416"/>
                </a:solidFill>
                <a:latin typeface="Verdana"/>
              </a:rPr>
              <a:t>Where we sit</a:t>
            </a:r>
          </a:p>
          <a:p>
            <a:pPr algn="l">
              <a:lnSpc>
                <a:spcPct val="100000"/>
              </a:lnSpc>
              <a:spcAft>
                <a:spcPts val="0"/>
              </a:spcAft>
            </a:pPr>
            <a:r>
              <a:rPr sz="1500" b="0">
                <a:solidFill>
                  <a:srgbClr val="6B665E"/>
                </a:solidFill>
                <a:latin typeface="Verdana"/>
              </a:rPr>
              <a:t>Visibility tools tell you something happened. We tell you what to do about it, and by when.</a:t>
            </a:r>
          </a:p>
        </p:txBody>
      </p:sp>
      <p:graphicFrame>
        <p:nvGraphicFramePr>
          <p:cNvPr id="5" name="Table 4"/>
          <p:cNvGraphicFramePr>
            <a:graphicFrameLocks noGrp="1"/>
          </p:cNvGraphicFramePr>
          <p:nvPr/>
        </p:nvGraphicFramePr>
        <p:xfrm>
          <a:off x="731520" y="1691640"/>
          <a:ext cx="10698480" cy="4023360"/>
        </p:xfrm>
        <a:graphic>
          <a:graphicData uri="http://schemas.openxmlformats.org/drawingml/2006/table">
            <a:tbl>
              <a:tblPr firstRow="1" bandRow="1">
                <a:tableStyleId>{5C22544A-7EE6-4342-B048-85BDC9FD1C3A}</a:tableStyleId>
              </a:tblPr>
              <a:tblGrid>
                <a:gridCol w="4114800"/>
                <a:gridCol w="1645920"/>
                <a:gridCol w="1645920"/>
                <a:gridCol w="1645920"/>
                <a:gridCol w="1645920"/>
              </a:tblGrid>
              <a:tr h="574765">
                <a:tc>
                  <a:txBody>
                    <a:bodyPr/>
                    <a:lstStyle/>
                    <a:p>
                      <a:pPr algn="l"/>
                      <a:r>
                        <a:rPr sz="1300" b="1">
                          <a:solidFill>
                            <a:srgbClr val="FFFFFF"/>
                          </a:solidFill>
                          <a:latin typeface="Verdana"/>
                        </a:rPr>
                        <a:t/>
                      </a:r>
                    </a:p>
                  </a:txBody>
                  <a:tcPr anchor="ctr" marL="109728" marR="109728">
                    <a:solidFill>
                      <a:srgbClr val="141416"/>
                    </a:solidFill>
                  </a:tcPr>
                </a:tc>
                <a:tc>
                  <a:txBody>
                    <a:bodyPr/>
                    <a:lstStyle/>
                    <a:p>
                      <a:pPr algn="ctr"/>
                      <a:r>
                        <a:rPr sz="1300" b="1">
                          <a:solidFill>
                            <a:srgbClr val="FFFFFF"/>
                          </a:solidFill>
                          <a:latin typeface="Verdana"/>
                        </a:rPr>
                        <a:t>Feed
monitors</a:t>
                      </a:r>
                    </a:p>
                  </a:txBody>
                  <a:tcPr anchor="ctr" marL="109728" marR="109728">
                    <a:solidFill>
                      <a:srgbClr val="141416"/>
                    </a:solidFill>
                  </a:tcPr>
                </a:tc>
                <a:tc>
                  <a:txBody>
                    <a:bodyPr/>
                    <a:lstStyle/>
                    <a:p>
                      <a:pPr algn="ctr"/>
                      <a:r>
                        <a:rPr sz="1300" b="1">
                          <a:solidFill>
                            <a:srgbClr val="FFFFFF"/>
                          </a:solidFill>
                          <a:latin typeface="Verdana"/>
                        </a:rPr>
                        <a:t>Visibility
platforms</a:t>
                      </a:r>
                    </a:p>
                  </a:txBody>
                  <a:tcPr anchor="ctr" marL="109728" marR="109728">
                    <a:solidFill>
                      <a:srgbClr val="141416"/>
                    </a:solidFill>
                  </a:tcPr>
                </a:tc>
                <a:tc>
                  <a:txBody>
                    <a:bodyPr/>
                    <a:lstStyle/>
                    <a:p>
                      <a:pPr algn="ctr"/>
                      <a:r>
                        <a:rPr sz="1300" b="1">
                          <a:solidFill>
                            <a:srgbClr val="FFFFFF"/>
                          </a:solidFill>
                          <a:latin typeface="Verdana"/>
                        </a:rPr>
                        <a:t>TMS
optimisers</a:t>
                      </a:r>
                    </a:p>
                  </a:txBody>
                  <a:tcPr anchor="ctr" marL="109728" marR="109728">
                    <a:solidFill>
                      <a:srgbClr val="141416"/>
                    </a:solidFill>
                  </a:tcPr>
                </a:tc>
                <a:tc>
                  <a:txBody>
                    <a:bodyPr/>
                    <a:lstStyle/>
                    <a:p>
                      <a:pPr algn="ctr"/>
                      <a:r>
                        <a:rPr sz="1300" b="1">
                          <a:solidFill>
                            <a:srgbClr val="FFC700"/>
                          </a:solidFill>
                          <a:latin typeface="Verdana"/>
                        </a:rPr>
                        <a:t>Risk
Radar</a:t>
                      </a:r>
                    </a:p>
                  </a:txBody>
                  <a:tcPr anchor="ctr" marL="109728" marR="109728">
                    <a:solidFill>
                      <a:srgbClr val="141416"/>
                    </a:solidFill>
                  </a:tcPr>
                </a:tc>
              </a:tr>
              <a:tr h="574765">
                <a:tc>
                  <a:txBody>
                    <a:bodyPr/>
                    <a:lstStyle/>
                    <a:p>
                      <a:pPr algn="l"/>
                      <a:r>
                        <a:rPr sz="1300">
                          <a:solidFill>
                            <a:srgbClr val="141416"/>
                          </a:solidFill>
                          <a:latin typeface="Verdana"/>
                        </a:rPr>
                        <a:t>Tells you an event happened</a:t>
                      </a:r>
                    </a:p>
                  </a:txBody>
                  <a:tcPr anchor="ctr" marL="109728" marR="109728">
                    <a:solidFill>
                      <a:srgbClr val="FFFFFF"/>
                    </a:solidFill>
                  </a:tcPr>
                </a:tc>
                <a:tc>
                  <a:txBody>
                    <a:bodyPr/>
                    <a:lstStyle/>
                    <a:p>
                      <a:pPr algn="ctr"/>
                      <a:r>
                        <a:rPr sz="1300" b="1">
                          <a:solidFill>
                            <a:srgbClr val="141416"/>
                          </a:solidFill>
                          <a:latin typeface="Verdana"/>
                        </a:rPr>
                        <a:t>yes</a:t>
                      </a:r>
                    </a:p>
                  </a:txBody>
                  <a:tcPr anchor="ctr" marL="109728" marR="109728">
                    <a:solidFill>
                      <a:srgbClr val="FFFFFF"/>
                    </a:solidFill>
                  </a:tcPr>
                </a:tc>
                <a:tc>
                  <a:txBody>
                    <a:bodyPr/>
                    <a:lstStyle/>
                    <a:p>
                      <a:pPr algn="ctr"/>
                      <a:r>
                        <a:rPr sz="1300" b="1">
                          <a:solidFill>
                            <a:srgbClr val="141416"/>
                          </a:solidFill>
                          <a:latin typeface="Verdana"/>
                        </a:rPr>
                        <a:t>yes</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1">
                          <a:solidFill>
                            <a:srgbClr val="D9042B"/>
                          </a:solidFill>
                          <a:latin typeface="Verdana"/>
                        </a:rPr>
                        <a:t>yes</a:t>
                      </a:r>
                    </a:p>
                  </a:txBody>
                  <a:tcPr anchor="ctr" marL="109728" marR="109728">
                    <a:solidFill>
                      <a:srgbClr val="FFF4CC"/>
                    </a:solidFill>
                  </a:tcPr>
                </a:tc>
              </a:tr>
              <a:tr h="574765">
                <a:tc>
                  <a:txBody>
                    <a:bodyPr/>
                    <a:lstStyle/>
                    <a:p>
                      <a:pPr algn="l"/>
                      <a:r>
                        <a:rPr sz="1300">
                          <a:solidFill>
                            <a:srgbClr val="141416"/>
                          </a:solidFill>
                          <a:latin typeface="Verdana"/>
                        </a:rPr>
                        <a:t>Names the affected consignments</a:t>
                      </a:r>
                    </a:p>
                  </a:txBody>
                  <a:tcPr anchor="ctr" marL="109728" marR="109728">
                    <a:solidFill>
                      <a:srgbClr val="F2F0EA"/>
                    </a:solidFill>
                  </a:tcPr>
                </a:tc>
                <a:tc>
                  <a:txBody>
                    <a:bodyPr/>
                    <a:lstStyle/>
                    <a:p>
                      <a:pPr algn="ctr"/>
                      <a:r>
                        <a:rPr sz="1300" b="0">
                          <a:solidFill>
                            <a:srgbClr val="A8A399"/>
                          </a:solidFill>
                          <a:latin typeface="Verdana"/>
                        </a:rPr>
                        <a:t>no</a:t>
                      </a:r>
                    </a:p>
                  </a:txBody>
                  <a:tcPr anchor="ctr" marL="109728" marR="109728">
                    <a:solidFill>
                      <a:srgbClr val="F2F0EA"/>
                    </a:solidFill>
                  </a:tcPr>
                </a:tc>
                <a:tc>
                  <a:txBody>
                    <a:bodyPr/>
                    <a:lstStyle/>
                    <a:p>
                      <a:pPr algn="ctr"/>
                      <a:r>
                        <a:rPr sz="1300" b="1">
                          <a:solidFill>
                            <a:srgbClr val="141416"/>
                          </a:solidFill>
                          <a:latin typeface="Verdana"/>
                        </a:rPr>
                        <a:t>yes</a:t>
                      </a:r>
                    </a:p>
                  </a:txBody>
                  <a:tcPr anchor="ctr" marL="109728" marR="109728">
                    <a:solidFill>
                      <a:srgbClr val="F2F0EA"/>
                    </a:solidFill>
                  </a:tcPr>
                </a:tc>
                <a:tc>
                  <a:txBody>
                    <a:bodyPr/>
                    <a:lstStyle/>
                    <a:p>
                      <a:pPr algn="ctr"/>
                      <a:r>
                        <a:rPr sz="1300" b="0">
                          <a:solidFill>
                            <a:srgbClr val="A8A399"/>
                          </a:solidFill>
                          <a:latin typeface="Verdana"/>
                        </a:rPr>
                        <a:t>partly</a:t>
                      </a:r>
                    </a:p>
                  </a:txBody>
                  <a:tcPr anchor="ctr" marL="109728" marR="109728">
                    <a:solidFill>
                      <a:srgbClr val="F2F0EA"/>
                    </a:solidFill>
                  </a:tcPr>
                </a:tc>
                <a:tc>
                  <a:txBody>
                    <a:bodyPr/>
                    <a:lstStyle/>
                    <a:p>
                      <a:pPr algn="ctr"/>
                      <a:r>
                        <a:rPr sz="1300" b="1">
                          <a:solidFill>
                            <a:srgbClr val="D9042B"/>
                          </a:solidFill>
                          <a:latin typeface="Verdana"/>
                        </a:rPr>
                        <a:t>yes</a:t>
                      </a:r>
                    </a:p>
                  </a:txBody>
                  <a:tcPr anchor="ctr" marL="109728" marR="109728">
                    <a:solidFill>
                      <a:srgbClr val="FFF4CC"/>
                    </a:solidFill>
                  </a:tcPr>
                </a:tc>
              </a:tr>
              <a:tr h="574765">
                <a:tc>
                  <a:txBody>
                    <a:bodyPr/>
                    <a:lstStyle/>
                    <a:p>
                      <a:pPr algn="l"/>
                      <a:r>
                        <a:rPr sz="1300">
                          <a:solidFill>
                            <a:srgbClr val="141416"/>
                          </a:solidFill>
                          <a:latin typeface="Verdana"/>
                        </a:rPr>
                        <a:t>Gives a deadline to act by</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1">
                          <a:solidFill>
                            <a:srgbClr val="D9042B"/>
                          </a:solidFill>
                          <a:latin typeface="Verdana"/>
                        </a:rPr>
                        <a:t>yes</a:t>
                      </a:r>
                    </a:p>
                  </a:txBody>
                  <a:tcPr anchor="ctr" marL="109728" marR="109728">
                    <a:solidFill>
                      <a:srgbClr val="FFF4CC"/>
                    </a:solidFill>
                  </a:tcPr>
                </a:tc>
              </a:tr>
              <a:tr h="574765">
                <a:tc>
                  <a:txBody>
                    <a:bodyPr/>
                    <a:lstStyle/>
                    <a:p>
                      <a:pPr algn="l"/>
                      <a:r>
                        <a:rPr sz="1300">
                          <a:solidFill>
                            <a:srgbClr val="141416"/>
                          </a:solidFill>
                          <a:latin typeface="Verdana"/>
                        </a:rPr>
                        <a:t>Refuses options that lose money</a:t>
                      </a:r>
                    </a:p>
                  </a:txBody>
                  <a:tcPr anchor="ctr" marL="109728" marR="109728">
                    <a:solidFill>
                      <a:srgbClr val="F2F0EA"/>
                    </a:solidFill>
                  </a:tcPr>
                </a:tc>
                <a:tc>
                  <a:txBody>
                    <a:bodyPr/>
                    <a:lstStyle/>
                    <a:p>
                      <a:pPr algn="ctr"/>
                      <a:r>
                        <a:rPr sz="1300" b="0">
                          <a:solidFill>
                            <a:srgbClr val="A8A399"/>
                          </a:solidFill>
                          <a:latin typeface="Verdana"/>
                        </a:rPr>
                        <a:t>no</a:t>
                      </a:r>
                    </a:p>
                  </a:txBody>
                  <a:tcPr anchor="ctr" marL="109728" marR="109728">
                    <a:solidFill>
                      <a:srgbClr val="F2F0EA"/>
                    </a:solidFill>
                  </a:tcPr>
                </a:tc>
                <a:tc>
                  <a:txBody>
                    <a:bodyPr/>
                    <a:lstStyle/>
                    <a:p>
                      <a:pPr algn="ctr"/>
                      <a:r>
                        <a:rPr sz="1300" b="0">
                          <a:solidFill>
                            <a:srgbClr val="A8A399"/>
                          </a:solidFill>
                          <a:latin typeface="Verdana"/>
                        </a:rPr>
                        <a:t>no</a:t>
                      </a:r>
                    </a:p>
                  </a:txBody>
                  <a:tcPr anchor="ctr" marL="109728" marR="109728">
                    <a:solidFill>
                      <a:srgbClr val="F2F0EA"/>
                    </a:solidFill>
                  </a:tcPr>
                </a:tc>
                <a:tc>
                  <a:txBody>
                    <a:bodyPr/>
                    <a:lstStyle/>
                    <a:p>
                      <a:pPr algn="ctr"/>
                      <a:r>
                        <a:rPr sz="1300" b="1">
                          <a:solidFill>
                            <a:srgbClr val="141416"/>
                          </a:solidFill>
                          <a:latin typeface="Verdana"/>
                        </a:rPr>
                        <a:t>yes</a:t>
                      </a:r>
                    </a:p>
                  </a:txBody>
                  <a:tcPr anchor="ctr" marL="109728" marR="109728">
                    <a:solidFill>
                      <a:srgbClr val="F2F0EA"/>
                    </a:solidFill>
                  </a:tcPr>
                </a:tc>
                <a:tc>
                  <a:txBody>
                    <a:bodyPr/>
                    <a:lstStyle/>
                    <a:p>
                      <a:pPr algn="ctr"/>
                      <a:r>
                        <a:rPr sz="1300" b="1">
                          <a:solidFill>
                            <a:srgbClr val="D9042B"/>
                          </a:solidFill>
                          <a:latin typeface="Verdana"/>
                        </a:rPr>
                        <a:t>yes</a:t>
                      </a:r>
                    </a:p>
                  </a:txBody>
                  <a:tcPr anchor="ctr" marL="109728" marR="109728">
                    <a:solidFill>
                      <a:srgbClr val="FFF4CC"/>
                    </a:solidFill>
                  </a:tcPr>
                </a:tc>
              </a:tr>
              <a:tr h="574765">
                <a:tc>
                  <a:txBody>
                    <a:bodyPr/>
                    <a:lstStyle/>
                    <a:p>
                      <a:pPr algn="l"/>
                      <a:r>
                        <a:rPr sz="1300">
                          <a:solidFill>
                            <a:srgbClr val="141416"/>
                          </a:solidFill>
                          <a:latin typeface="Verdana"/>
                        </a:rPr>
                        <a:t>Confirms from the vehicle itself</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0">
                          <a:solidFill>
                            <a:srgbClr val="A8A399"/>
                          </a:solidFill>
                          <a:latin typeface="Verdana"/>
                        </a:rPr>
                        <a:t>no</a:t>
                      </a:r>
                    </a:p>
                  </a:txBody>
                  <a:tcPr anchor="ctr" marL="109728" marR="109728">
                    <a:solidFill>
                      <a:srgbClr val="FFFFFF"/>
                    </a:solidFill>
                  </a:tcPr>
                </a:tc>
                <a:tc>
                  <a:txBody>
                    <a:bodyPr/>
                    <a:lstStyle/>
                    <a:p>
                      <a:pPr algn="ctr"/>
                      <a:r>
                        <a:rPr sz="1300" b="1">
                          <a:solidFill>
                            <a:srgbClr val="D9042B"/>
                          </a:solidFill>
                          <a:latin typeface="Verdana"/>
                        </a:rPr>
                        <a:t>yes</a:t>
                      </a:r>
                    </a:p>
                  </a:txBody>
                  <a:tcPr anchor="ctr" marL="109728" marR="109728">
                    <a:solidFill>
                      <a:srgbClr val="FFF4CC"/>
                    </a:solidFill>
                  </a:tcPr>
                </a:tc>
              </a:tr>
              <a:tr h="574770">
                <a:tc>
                  <a:txBody>
                    <a:bodyPr/>
                    <a:lstStyle/>
                    <a:p>
                      <a:pPr algn="l"/>
                      <a:r>
                        <a:rPr sz="1300">
                          <a:solidFill>
                            <a:srgbClr val="141416"/>
                          </a:solidFill>
                          <a:latin typeface="Verdana"/>
                        </a:rPr>
                        <a:t>Runs with no per-call model cost</a:t>
                      </a:r>
                    </a:p>
                  </a:txBody>
                  <a:tcPr anchor="ctr" marL="109728" marR="109728">
                    <a:solidFill>
                      <a:srgbClr val="F2F0EA"/>
                    </a:solidFill>
                  </a:tcPr>
                </a:tc>
                <a:tc>
                  <a:txBody>
                    <a:bodyPr/>
                    <a:lstStyle/>
                    <a:p>
                      <a:pPr algn="ctr"/>
                      <a:r>
                        <a:rPr sz="1300" b="1">
                          <a:solidFill>
                            <a:srgbClr val="141416"/>
                          </a:solidFill>
                          <a:latin typeface="Verdana"/>
                        </a:rPr>
                        <a:t>yes</a:t>
                      </a:r>
                    </a:p>
                  </a:txBody>
                  <a:tcPr anchor="ctr" marL="109728" marR="109728">
                    <a:solidFill>
                      <a:srgbClr val="F2F0EA"/>
                    </a:solidFill>
                  </a:tcPr>
                </a:tc>
                <a:tc>
                  <a:txBody>
                    <a:bodyPr/>
                    <a:lstStyle/>
                    <a:p>
                      <a:pPr algn="ctr"/>
                      <a:r>
                        <a:rPr sz="1300" b="0">
                          <a:solidFill>
                            <a:srgbClr val="A8A399"/>
                          </a:solidFill>
                          <a:latin typeface="Verdana"/>
                        </a:rPr>
                        <a:t>no</a:t>
                      </a:r>
                    </a:p>
                  </a:txBody>
                  <a:tcPr anchor="ctr" marL="109728" marR="109728">
                    <a:solidFill>
                      <a:srgbClr val="F2F0EA"/>
                    </a:solidFill>
                  </a:tcPr>
                </a:tc>
                <a:tc>
                  <a:txBody>
                    <a:bodyPr/>
                    <a:lstStyle/>
                    <a:p>
                      <a:pPr algn="ctr"/>
                      <a:r>
                        <a:rPr sz="1300" b="0">
                          <a:solidFill>
                            <a:srgbClr val="A8A399"/>
                          </a:solidFill>
                          <a:latin typeface="Verdana"/>
                        </a:rPr>
                        <a:t>no</a:t>
                      </a:r>
                    </a:p>
                  </a:txBody>
                  <a:tcPr anchor="ctr" marL="109728" marR="109728">
                    <a:solidFill>
                      <a:srgbClr val="F2F0EA"/>
                    </a:solidFill>
                  </a:tcPr>
                </a:tc>
                <a:tc>
                  <a:txBody>
                    <a:bodyPr/>
                    <a:lstStyle/>
                    <a:p>
                      <a:pPr algn="ctr"/>
                      <a:r>
                        <a:rPr sz="1300" b="1">
                          <a:solidFill>
                            <a:srgbClr val="D9042B"/>
                          </a:solidFill>
                          <a:latin typeface="Verdana"/>
                        </a:rPr>
                        <a:t>yes</a:t>
                      </a:r>
                    </a:p>
                  </a:txBody>
                  <a:tcPr anchor="ctr" marL="109728" marR="109728">
                    <a:solidFill>
                      <a:srgbClr val="FFF4C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Rectangle 1"/>
          <p:cNvSpPr/>
          <p:nvPr/>
        </p:nvSpPr>
        <p:spPr>
          <a:xfrm>
            <a:off x="0" y="0"/>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698480" cy="731520"/>
          </a:xfrm>
          <a:prstGeom prst="rect">
            <a:avLst/>
          </a:prstGeom>
          <a:noFill/>
        </p:spPr>
        <p:txBody>
          <a:bodyPr wrap="square" anchor="t" lIns="0" rIns="0" tIns="0" bIns="0">
            <a:spAutoFit/>
          </a:bodyPr>
          <a:lstStyle/>
          <a:p>
            <a:pPr algn="l">
              <a:lnSpc>
                <a:spcPct val="100000"/>
              </a:lnSpc>
              <a:spcAft>
                <a:spcPts val="0"/>
              </a:spcAft>
            </a:pPr>
            <a:r>
              <a:rPr sz="3000" b="1">
                <a:solidFill>
                  <a:srgbClr val="141416"/>
                </a:solidFill>
                <a:latin typeface="Verdana"/>
              </a:rPr>
              <a:t>Business model and go-to-market</a:t>
            </a:r>
          </a:p>
        </p:txBody>
      </p:sp>
      <p:sp>
        <p:nvSpPr>
          <p:cNvPr id="5" name="Rounded Rectangle 4"/>
          <p:cNvSpPr/>
          <p:nvPr/>
        </p:nvSpPr>
        <p:spPr>
          <a:xfrm>
            <a:off x="731520" y="1508760"/>
            <a:ext cx="3291840" cy="347472"/>
          </a:xfrm>
          <a:prstGeom prst="round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C700"/>
                </a:solidFill>
                <a:latin typeface="Verdana"/>
              </a:rPr>
              <a:t>HOW IT EARNS</a:t>
            </a:r>
          </a:p>
        </p:txBody>
      </p:sp>
      <p:sp>
        <p:nvSpPr>
          <p:cNvPr id="6" name="TextBox 5"/>
          <p:cNvSpPr txBox="1"/>
          <p:nvPr/>
        </p:nvSpPr>
        <p:spPr>
          <a:xfrm>
            <a:off x="731520" y="2148840"/>
            <a:ext cx="3291840" cy="3840480"/>
          </a:xfrm>
          <a:prstGeom prst="rect">
            <a:avLst/>
          </a:prstGeom>
          <a:noFill/>
        </p:spPr>
        <p:txBody>
          <a:bodyPr wrap="square" anchor="t" lIns="0" rIns="0" tIns="0" bIns="0">
            <a:spAutoFit/>
          </a:bodyPr>
          <a:lstStyle/>
          <a:p>
            <a:pPr algn="l">
              <a:lnSpc>
                <a:spcPct val="100000"/>
              </a:lnSpc>
              <a:spcAft>
                <a:spcPts val="1400"/>
              </a:spcAft>
            </a:pPr>
            <a:r>
              <a:rPr sz="1400" b="0">
                <a:solidFill>
                  <a:srgbClr val="141416"/>
                </a:solidFill>
                <a:latin typeface="Verdana"/>
              </a:rPr>
              <a:t>—  Licensed per planning seat, per year, to the transport and supply chain teams that already sit on the disruption call.</a:t>
            </a:r>
          </a:p>
          <a:p>
            <a:pPr algn="l">
              <a:lnSpc>
                <a:spcPct val="100000"/>
              </a:lnSpc>
              <a:spcAft>
                <a:spcPts val="1400"/>
              </a:spcAft>
            </a:pPr>
            <a:r>
              <a:rPr sz="1400" b="0">
                <a:solidFill>
                  <a:srgbClr val="141416"/>
                </a:solidFill>
                <a:latin typeface="Verdana"/>
              </a:rPr>
              <a:t>—  Priced against one avoided expedite. A single rescued critical consignment covers a seat for a year.</a:t>
            </a:r>
          </a:p>
          <a:p>
            <a:pPr algn="l">
              <a:lnSpc>
                <a:spcPct val="100000"/>
              </a:lnSpc>
              <a:spcAft>
                <a:spcPts val="1400"/>
              </a:spcAft>
            </a:pPr>
            <a:r>
              <a:rPr sz="1400" b="0">
                <a:solidFill>
                  <a:srgbClr val="141416"/>
                </a:solidFill>
                <a:latin typeface="Verdana"/>
              </a:rPr>
              <a:t>—  Connector work — a customer's TMS, their carrier feeds — is a fixed-fee integration on top.</a:t>
            </a:r>
          </a:p>
        </p:txBody>
      </p:sp>
      <p:sp>
        <p:nvSpPr>
          <p:cNvPr id="7" name="Rounded Rectangle 6"/>
          <p:cNvSpPr/>
          <p:nvPr/>
        </p:nvSpPr>
        <p:spPr>
          <a:xfrm>
            <a:off x="4251960" y="1508760"/>
            <a:ext cx="3291840" cy="347472"/>
          </a:xfrm>
          <a:prstGeom prst="round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C700"/>
                </a:solidFill>
                <a:latin typeface="Verdana"/>
              </a:rPr>
              <a:t>HOW IT LANDS</a:t>
            </a:r>
          </a:p>
        </p:txBody>
      </p:sp>
      <p:sp>
        <p:nvSpPr>
          <p:cNvPr id="8" name="TextBox 7"/>
          <p:cNvSpPr txBox="1"/>
          <p:nvPr/>
        </p:nvSpPr>
        <p:spPr>
          <a:xfrm>
            <a:off x="4251960" y="2148840"/>
            <a:ext cx="3291840" cy="3840480"/>
          </a:xfrm>
          <a:prstGeom prst="rect">
            <a:avLst/>
          </a:prstGeom>
          <a:noFill/>
        </p:spPr>
        <p:txBody>
          <a:bodyPr wrap="square" anchor="t" lIns="0" rIns="0" tIns="0" bIns="0">
            <a:spAutoFit/>
          </a:bodyPr>
          <a:lstStyle/>
          <a:p>
            <a:pPr algn="l">
              <a:lnSpc>
                <a:spcPct val="100000"/>
              </a:lnSpc>
              <a:spcAft>
                <a:spcPts val="1400"/>
              </a:spcAft>
            </a:pPr>
            <a:r>
              <a:rPr sz="1400" b="0">
                <a:solidFill>
                  <a:srgbClr val="141416"/>
                </a:solidFill>
                <a:latin typeface="Verdana"/>
              </a:rPr>
              <a:t>—  Start inside Sika: one corridor, the Rhine, where the pain is already named and the data already exists.</a:t>
            </a:r>
          </a:p>
          <a:p>
            <a:pPr algn="l">
              <a:lnSpc>
                <a:spcPct val="100000"/>
              </a:lnSpc>
              <a:spcAft>
                <a:spcPts val="1400"/>
              </a:spcAft>
            </a:pPr>
            <a:r>
              <a:rPr sz="1400" b="0">
                <a:solidFill>
                  <a:srgbClr val="141416"/>
                </a:solidFill>
                <a:latin typeface="Verdana"/>
              </a:rPr>
              <a:t>—  Widen to the Suez and trans-Atlantic lanes on the same engine — new lanes are configuration, not code.</a:t>
            </a:r>
          </a:p>
          <a:p>
            <a:pPr algn="l">
              <a:lnSpc>
                <a:spcPct val="100000"/>
              </a:lnSpc>
              <a:spcAft>
                <a:spcPts val="1400"/>
              </a:spcAft>
            </a:pPr>
            <a:r>
              <a:rPr sz="1400" b="0">
                <a:solidFill>
                  <a:srgbClr val="141416"/>
                </a:solidFill>
                <a:latin typeface="Verdana"/>
              </a:rPr>
              <a:t>—  Then out: the same problem belongs to every manufacturer moving bulk chemicals on fixed customer dates.</a:t>
            </a:r>
          </a:p>
        </p:txBody>
      </p:sp>
      <p:sp>
        <p:nvSpPr>
          <p:cNvPr id="9" name="Rounded Rectangle 8"/>
          <p:cNvSpPr/>
          <p:nvPr/>
        </p:nvSpPr>
        <p:spPr>
          <a:xfrm>
            <a:off x="7772400" y="1508760"/>
            <a:ext cx="3291840" cy="347472"/>
          </a:xfrm>
          <a:prstGeom prst="roundRect">
            <a:avLst/>
          </a:prstGeom>
          <a:solidFill>
            <a:srgbClr val="14141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C700"/>
                </a:solidFill>
                <a:latin typeface="Verdana"/>
              </a:rPr>
              <a:t>WHY IT IS CHEAP TO RUN</a:t>
            </a:r>
          </a:p>
        </p:txBody>
      </p:sp>
      <p:sp>
        <p:nvSpPr>
          <p:cNvPr id="10" name="TextBox 9"/>
          <p:cNvSpPr txBox="1"/>
          <p:nvPr/>
        </p:nvSpPr>
        <p:spPr>
          <a:xfrm>
            <a:off x="7772400" y="2148840"/>
            <a:ext cx="3291840" cy="3840480"/>
          </a:xfrm>
          <a:prstGeom prst="rect">
            <a:avLst/>
          </a:prstGeom>
          <a:noFill/>
        </p:spPr>
        <p:txBody>
          <a:bodyPr wrap="square" anchor="t" lIns="0" rIns="0" tIns="0" bIns="0">
            <a:spAutoFit/>
          </a:bodyPr>
          <a:lstStyle/>
          <a:p>
            <a:pPr algn="l">
              <a:lnSpc>
                <a:spcPct val="100000"/>
              </a:lnSpc>
              <a:spcAft>
                <a:spcPts val="1400"/>
              </a:spcAft>
            </a:pPr>
            <a:r>
              <a:rPr sz="1400" b="0">
                <a:solidFill>
                  <a:srgbClr val="141416"/>
                </a:solidFill>
                <a:latin typeface="Verdana"/>
              </a:rPr>
              <a:t>—  Free, keyless public feeds do the watching; custom sources are declared in YAML, so a customer adds their own without us.</a:t>
            </a:r>
          </a:p>
          <a:p>
            <a:pPr algn="l">
              <a:lnSpc>
                <a:spcPct val="100000"/>
              </a:lnSpc>
              <a:spcAft>
                <a:spcPts val="1400"/>
              </a:spcAft>
            </a:pPr>
            <a:r>
              <a:rPr sz="1400" b="0">
                <a:solidFill>
                  <a:srgbClr val="141416"/>
                </a:solidFill>
                <a:latin typeface="Verdana"/>
              </a:rPr>
              <a:t>—  The filter is deterministic, so cost does not scale with news volume.</a:t>
            </a:r>
          </a:p>
          <a:p>
            <a:pPr algn="l">
              <a:lnSpc>
                <a:spcPct val="100000"/>
              </a:lnSpc>
              <a:spcAft>
                <a:spcPts val="1400"/>
              </a:spcAft>
            </a:pPr>
            <a:r>
              <a:rPr sz="1400" b="0">
                <a:solidFill>
                  <a:srgbClr val="141416"/>
                </a:solidFill>
                <a:latin typeface="Verdana"/>
              </a:rPr>
              <a:t>—  No per-event model bill, and the whole pipeline replays offline for audit.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416"/>
        </a:solidFill>
        <a:effectLst/>
      </p:bgPr>
    </p:bg>
    <p:spTree>
      <p:nvGrpSpPr>
        <p:cNvPr id="1" name=""/>
        <p:cNvGrpSpPr/>
        <p:nvPr/>
      </p:nvGrpSpPr>
      <p:grpSpPr/>
      <p:sp>
        <p:nvSpPr>
          <p:cNvPr id="2" name="Rectangle 1"/>
          <p:cNvSpPr/>
          <p:nvPr/>
        </p:nvSpPr>
        <p:spPr>
          <a:xfrm>
            <a:off x="0" y="6775704"/>
            <a:ext cx="6095847" cy="82296"/>
          </a:xfrm>
          <a:prstGeom prst="rect">
            <a:avLst/>
          </a:prstGeom>
          <a:solidFill>
            <a:srgbClr val="FFC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6775704"/>
            <a:ext cx="6095847" cy="82296"/>
          </a:xfrm>
          <a:prstGeom prst="rect">
            <a:avLst/>
          </a:prstGeom>
          <a:solidFill>
            <a:srgbClr val="D90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1280160"/>
          </a:xfrm>
          <a:prstGeom prst="rect">
            <a:avLst/>
          </a:prstGeom>
          <a:noFill/>
        </p:spPr>
        <p:txBody>
          <a:bodyPr wrap="square" anchor="t" lIns="0" rIns="0" tIns="0" bIns="0">
            <a:spAutoFit/>
          </a:bodyPr>
          <a:lstStyle/>
          <a:p>
            <a:pPr algn="l">
              <a:lnSpc>
                <a:spcPct val="100000"/>
              </a:lnSpc>
              <a:spcAft>
                <a:spcPts val="0"/>
              </a:spcAft>
            </a:pPr>
            <a:r>
              <a:rPr sz="3200" b="1">
                <a:solidFill>
                  <a:srgbClr val="FFFFFF"/>
                </a:solidFill>
                <a:latin typeface="Verdana"/>
              </a:rPr>
              <a:t>Team, state, and what we want next</a:t>
            </a:r>
          </a:p>
        </p:txBody>
      </p:sp>
      <p:sp>
        <p:nvSpPr>
          <p:cNvPr id="5" name="TextBox 4"/>
          <p:cNvSpPr txBox="1"/>
          <p:nvPr/>
        </p:nvSpPr>
        <p:spPr>
          <a:xfrm>
            <a:off x="822960" y="2286000"/>
            <a:ext cx="5029200" cy="3657600"/>
          </a:xfrm>
          <a:prstGeom prst="rect">
            <a:avLst/>
          </a:prstGeom>
          <a:noFill/>
        </p:spPr>
        <p:txBody>
          <a:bodyPr wrap="square" anchor="t" lIns="0" rIns="0" tIns="0" bIns="0">
            <a:spAutoFit/>
          </a:bodyPr>
          <a:lstStyle/>
          <a:p>
            <a:pPr algn="l">
              <a:lnSpc>
                <a:spcPct val="100000"/>
              </a:lnSpc>
              <a:spcAft>
                <a:spcPts val="1200"/>
              </a:spcAft>
            </a:pPr>
            <a:r>
              <a:rPr sz="1400" b="1">
                <a:solidFill>
                  <a:srgbClr val="FFC700"/>
                </a:solidFill>
                <a:latin typeface="Verdana"/>
              </a:rPr>
              <a:t>WHERE IT ACTUALLY IS</a:t>
            </a:r>
          </a:p>
          <a:p>
            <a:pPr algn="l">
              <a:lnSpc>
                <a:spcPct val="100000"/>
              </a:lnSpc>
              <a:spcAft>
                <a:spcPts val="1200"/>
              </a:spcAft>
            </a:pPr>
            <a:r>
              <a:rPr sz="1600" b="0">
                <a:solidFill>
                  <a:srgbClr val="DEDAD2"/>
                </a:solidFill>
                <a:latin typeface="Verdana"/>
              </a:rPr>
              <a:t>Working software, not a mockup. Board, per-lane page, gated playbook, driver app and escalation pack all run today.</a:t>
            </a:r>
          </a:p>
          <a:p>
            <a:pPr algn="l">
              <a:lnSpc>
                <a:spcPct val="100000"/>
              </a:lnSpc>
              <a:spcAft>
                <a:spcPts val="1200"/>
              </a:spcAft>
            </a:pPr>
            <a:r>
              <a:rPr sz="1600" b="0">
                <a:solidFill>
                  <a:srgbClr val="DEDAD2"/>
                </a:solidFill>
                <a:latin typeface="Verdana"/>
              </a:rPr>
              <a:t>513 automated tests. Every number on screen is reproducible from a pinned as-of date, so a decision can be re-examined months later.</a:t>
            </a:r>
          </a:p>
          <a:p>
            <a:pPr algn="l">
              <a:lnSpc>
                <a:spcPct val="100000"/>
              </a:lnSpc>
              <a:spcAft>
                <a:spcPts val="0"/>
              </a:spcAft>
            </a:pPr>
            <a:r>
              <a:rPr sz="1400" b="0">
                <a:solidFill>
                  <a:srgbClr val="6B665E"/>
                </a:solidFill>
                <a:latin typeface="Verdana"/>
              </a:rPr>
              <a:t>The figures shown are synthetic shipments on real lanes. The feeds behind them are live and free.</a:t>
            </a:r>
          </a:p>
        </p:txBody>
      </p:sp>
      <p:sp>
        <p:nvSpPr>
          <p:cNvPr id="6" name="TextBox 5"/>
          <p:cNvSpPr txBox="1"/>
          <p:nvPr/>
        </p:nvSpPr>
        <p:spPr>
          <a:xfrm>
            <a:off x="6400800" y="2286000"/>
            <a:ext cx="4937760" cy="3657600"/>
          </a:xfrm>
          <a:prstGeom prst="rect">
            <a:avLst/>
          </a:prstGeom>
          <a:noFill/>
        </p:spPr>
        <p:txBody>
          <a:bodyPr wrap="square" anchor="t" lIns="0" rIns="0" tIns="0" bIns="0">
            <a:spAutoFit/>
          </a:bodyPr>
          <a:lstStyle/>
          <a:p>
            <a:pPr algn="l">
              <a:lnSpc>
                <a:spcPct val="100000"/>
              </a:lnSpc>
              <a:spcAft>
                <a:spcPts val="1200"/>
              </a:spcAft>
            </a:pPr>
            <a:r>
              <a:rPr sz="1400" b="1">
                <a:solidFill>
                  <a:srgbClr val="FFC700"/>
                </a:solidFill>
                <a:latin typeface="Verdana"/>
              </a:rPr>
              <a:t>WHAT WE ARE ASKING FOR</a:t>
            </a:r>
          </a:p>
          <a:p>
            <a:pPr algn="l">
              <a:lnSpc>
                <a:spcPct val="100000"/>
              </a:lnSpc>
              <a:spcAft>
                <a:spcPts val="1200"/>
              </a:spcAft>
            </a:pPr>
            <a:r>
              <a:rPr sz="2200" b="1">
                <a:solidFill>
                  <a:srgbClr val="FFFFFF"/>
                </a:solidFill>
                <a:latin typeface="Verdana"/>
              </a:rPr>
              <a:t>One live corridor and one planner.</a:t>
            </a:r>
          </a:p>
          <a:p>
            <a:pPr algn="l">
              <a:lnSpc>
                <a:spcPct val="100000"/>
              </a:lnSpc>
              <a:spcAft>
                <a:spcPts val="1600"/>
              </a:spcAft>
            </a:pPr>
            <a:r>
              <a:rPr sz="1600" b="0">
                <a:solidFill>
                  <a:srgbClr val="DEDAD2"/>
                </a:solidFill>
                <a:latin typeface="Verdana"/>
              </a:rPr>
              <a:t>Give us the Rhine lane, read-only access to the shipment book, and one planner for two weeks. We will run the radar alongside the way you work today and count, on real disruptions, how many consignments kept their date.</a:t>
            </a:r>
          </a:p>
          <a:p>
            <a:pPr algn="l">
              <a:lnSpc>
                <a:spcPct val="100000"/>
              </a:lnSpc>
              <a:spcAft>
                <a:spcPts val="0"/>
              </a:spcAft>
            </a:pPr>
            <a:r>
              <a:rPr sz="1500" b="1">
                <a:solidFill>
                  <a:srgbClr val="FFC700"/>
                </a:solidFill>
                <a:latin typeface="Verdana"/>
              </a:rPr>
              <a:t>If it does not shorten the time to a decision, it has failed, and that is measurable in a fortnight.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